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D128D-8F53-426C-978B-B1ABF56BA531}" v="8" dt="2026-04-29T12:26:03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4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akale Diawara" userId="e3a0cd8d70ccd716" providerId="LiveId" clId="{28ADBBDB-E822-45E3-A835-35D71739ECCF}"/>
    <pc:docChg chg="undo custSel addSld modSld">
      <pc:chgData name="Niakale Diawara" userId="e3a0cd8d70ccd716" providerId="LiveId" clId="{28ADBBDB-E822-45E3-A835-35D71739ECCF}" dt="2026-04-29T12:56:57.196" v="153" actId="14100"/>
      <pc:docMkLst>
        <pc:docMk/>
      </pc:docMkLst>
      <pc:sldChg chg="modSp mod">
        <pc:chgData name="Niakale Diawara" userId="e3a0cd8d70ccd716" providerId="LiveId" clId="{28ADBBDB-E822-45E3-A835-35D71739ECCF}" dt="2026-04-29T12:34:50.142" v="137" actId="255"/>
        <pc:sldMkLst>
          <pc:docMk/>
          <pc:sldMk cId="0" sldId="256"/>
        </pc:sldMkLst>
        <pc:spChg chg="mod">
          <ac:chgData name="Niakale Diawara" userId="e3a0cd8d70ccd716" providerId="LiveId" clId="{28ADBBDB-E822-45E3-A835-35D71739ECCF}" dt="2026-04-29T12:34:50.142" v="137" actId="25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4:40.327" v="135" actId="1076"/>
          <ac:spMkLst>
            <pc:docMk/>
            <pc:sldMk cId="0" sldId="256"/>
            <ac:spMk id="19" creationId="{240CEFFC-665B-D191-854E-8C0866531BA6}"/>
          </ac:spMkLst>
        </pc:spChg>
      </pc:sldChg>
      <pc:sldChg chg="modSp mod">
        <pc:chgData name="Niakale Diawara" userId="e3a0cd8d70ccd716" providerId="LiveId" clId="{28ADBBDB-E822-45E3-A835-35D71739ECCF}" dt="2026-04-29T12:14:52.508" v="9" actId="20577"/>
        <pc:sldMkLst>
          <pc:docMk/>
          <pc:sldMk cId="0" sldId="257"/>
        </pc:sldMkLst>
        <pc:spChg chg="mod">
          <ac:chgData name="Niakale Diawara" userId="e3a0cd8d70ccd716" providerId="LiveId" clId="{28ADBBDB-E822-45E3-A835-35D71739ECCF}" dt="2026-04-29T12:14:52.508" v="9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Niakale Diawara" userId="e3a0cd8d70ccd716" providerId="LiveId" clId="{28ADBBDB-E822-45E3-A835-35D71739ECCF}" dt="2026-04-29T12:14:59.681" v="13" actId="20577"/>
        <pc:sldMkLst>
          <pc:docMk/>
          <pc:sldMk cId="0" sldId="258"/>
        </pc:sldMkLst>
        <pc:spChg chg="mod">
          <ac:chgData name="Niakale Diawara" userId="e3a0cd8d70ccd716" providerId="LiveId" clId="{28ADBBDB-E822-45E3-A835-35D71739ECCF}" dt="2026-04-29T12:14:59.681" v="13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Niakale Diawara" userId="e3a0cd8d70ccd716" providerId="LiveId" clId="{28ADBBDB-E822-45E3-A835-35D71739ECCF}" dt="2026-04-29T12:24:18.222" v="69" actId="20577"/>
        <pc:sldMkLst>
          <pc:docMk/>
          <pc:sldMk cId="0" sldId="259"/>
        </pc:sldMkLst>
        <pc:spChg chg="mod">
          <ac:chgData name="Niakale Diawara" userId="e3a0cd8d70ccd716" providerId="LiveId" clId="{28ADBBDB-E822-45E3-A835-35D71739ECCF}" dt="2026-04-29T12:24:18.222" v="69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0:09.515" v="23" actId="313"/>
          <ac:spMkLst>
            <pc:docMk/>
            <pc:sldMk cId="0" sldId="259"/>
            <ac:spMk id="9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3:56.748" v="65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1:10.662" v="34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2:27.115" v="45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3:40.563" v="63" actId="20577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Niakale Diawara" userId="e3a0cd8d70ccd716" providerId="LiveId" clId="{28ADBBDB-E822-45E3-A835-35D71739ECCF}" dt="2026-04-29T12:25:01.043" v="73" actId="20577"/>
        <pc:sldMkLst>
          <pc:docMk/>
          <pc:sldMk cId="0" sldId="260"/>
        </pc:sldMkLst>
        <pc:spChg chg="mod">
          <ac:chgData name="Niakale Diawara" userId="e3a0cd8d70ccd716" providerId="LiveId" clId="{28ADBBDB-E822-45E3-A835-35D71739ECCF}" dt="2026-04-29T12:25:01.043" v="73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Niakale Diawara" userId="e3a0cd8d70ccd716" providerId="LiveId" clId="{28ADBBDB-E822-45E3-A835-35D71739ECCF}" dt="2026-04-29T12:31:07.848" v="128" actId="14100"/>
        <pc:sldMkLst>
          <pc:docMk/>
          <pc:sldMk cId="0" sldId="261"/>
        </pc:sldMkLst>
        <pc:spChg chg="mod">
          <ac:chgData name="Niakale Diawara" userId="e3a0cd8d70ccd716" providerId="LiveId" clId="{28ADBBDB-E822-45E3-A835-35D71739ECCF}" dt="2026-04-29T12:25:16.784" v="7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0:44.160" v="125" actId="14100"/>
          <ac:spMkLst>
            <pc:docMk/>
            <pc:sldMk cId="0" sldId="261"/>
            <ac:spMk id="82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0:56.624" v="126" actId="14100"/>
          <ac:spMkLst>
            <pc:docMk/>
            <pc:sldMk cId="0" sldId="261"/>
            <ac:spMk id="85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1:07.848" v="128" actId="14100"/>
          <ac:spMkLst>
            <pc:docMk/>
            <pc:sldMk cId="0" sldId="261"/>
            <ac:spMk id="86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0:16.184" v="122" actId="1076"/>
          <ac:spMkLst>
            <pc:docMk/>
            <pc:sldMk cId="0" sldId="261"/>
            <ac:spMk id="87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30:23.938" v="124" actId="14100"/>
          <ac:spMkLst>
            <pc:docMk/>
            <pc:sldMk cId="0" sldId="261"/>
            <ac:spMk id="88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9:27.184" v="116" actId="14100"/>
          <ac:spMkLst>
            <pc:docMk/>
            <pc:sldMk cId="0" sldId="261"/>
            <ac:spMk id="89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8:29.512" v="107" actId="1076"/>
          <ac:spMkLst>
            <pc:docMk/>
            <pc:sldMk cId="0" sldId="261"/>
            <ac:spMk id="90" creationId="{00000000-0000-0000-0000-000000000000}"/>
          </ac:spMkLst>
        </pc:spChg>
      </pc:sldChg>
      <pc:sldChg chg="modSp mod">
        <pc:chgData name="Niakale Diawara" userId="e3a0cd8d70ccd716" providerId="LiveId" clId="{28ADBBDB-E822-45E3-A835-35D71739ECCF}" dt="2026-04-29T12:50:59.849" v="145" actId="20577"/>
        <pc:sldMkLst>
          <pc:docMk/>
          <pc:sldMk cId="0" sldId="262"/>
        </pc:sldMkLst>
        <pc:spChg chg="mod">
          <ac:chgData name="Niakale Diawara" userId="e3a0cd8d70ccd716" providerId="LiveId" clId="{28ADBBDB-E822-45E3-A835-35D71739ECCF}" dt="2026-04-29T12:50:59.849" v="145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7:59.072" v="105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7:10.035" v="90" actId="12"/>
          <ac:spMkLst>
            <pc:docMk/>
            <pc:sldMk cId="0" sldId="262"/>
            <ac:spMk id="14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6:56.574" v="88" actId="12"/>
          <ac:spMkLst>
            <pc:docMk/>
            <pc:sldMk cId="0" sldId="262"/>
            <ac:spMk id="19" creationId="{00000000-0000-0000-0000-000000000000}"/>
          </ac:spMkLst>
        </pc:spChg>
        <pc:spChg chg="mod">
          <ac:chgData name="Niakale Diawara" userId="e3a0cd8d70ccd716" providerId="LiveId" clId="{28ADBBDB-E822-45E3-A835-35D71739ECCF}" dt="2026-04-29T12:27:27.142" v="93" actId="12"/>
          <ac:spMkLst>
            <pc:docMk/>
            <pc:sldMk cId="0" sldId="262"/>
            <ac:spMk id="24" creationId="{00000000-0000-0000-0000-000000000000}"/>
          </ac:spMkLst>
        </pc:spChg>
      </pc:sldChg>
      <pc:sldChg chg="addSp delSp modSp new mod">
        <pc:chgData name="Niakale Diawara" userId="e3a0cd8d70ccd716" providerId="LiveId" clId="{28ADBBDB-E822-45E3-A835-35D71739ECCF}" dt="2026-04-29T12:56:57.196" v="153" actId="14100"/>
        <pc:sldMkLst>
          <pc:docMk/>
          <pc:sldMk cId="1443951026" sldId="264"/>
        </pc:sldMkLst>
        <pc:picChg chg="add del mod">
          <ac:chgData name="Niakale Diawara" userId="e3a0cd8d70ccd716" providerId="LiveId" clId="{28ADBBDB-E822-45E3-A835-35D71739ECCF}" dt="2026-04-29T12:56:14.361" v="146" actId="21"/>
          <ac:picMkLst>
            <pc:docMk/>
            <pc:sldMk cId="1443951026" sldId="264"/>
            <ac:picMk id="3" creationId="{1AE43505-062C-9C21-2E11-C079491CC353}"/>
          </ac:picMkLst>
        </pc:picChg>
        <pc:picChg chg="add del">
          <ac:chgData name="Niakale Diawara" userId="e3a0cd8d70ccd716" providerId="LiveId" clId="{28ADBBDB-E822-45E3-A835-35D71739ECCF}" dt="2026-04-29T12:56:41.828" v="150" actId="22"/>
          <ac:picMkLst>
            <pc:docMk/>
            <pc:sldMk cId="1443951026" sldId="264"/>
            <ac:picMk id="5" creationId="{21924331-DA50-A1F8-1366-78F1929CC9C8}"/>
          </ac:picMkLst>
        </pc:picChg>
        <pc:picChg chg="add del">
          <ac:chgData name="Niakale Diawara" userId="e3a0cd8d70ccd716" providerId="LiveId" clId="{28ADBBDB-E822-45E3-A835-35D71739ECCF}" dt="2026-04-29T12:56:41.145" v="149" actId="22"/>
          <ac:picMkLst>
            <pc:docMk/>
            <pc:sldMk cId="1443951026" sldId="264"/>
            <ac:picMk id="7" creationId="{1AE5EB5C-1EAC-51B8-9535-E18449AB9CD0}"/>
          </ac:picMkLst>
        </pc:picChg>
        <pc:picChg chg="add mod">
          <ac:chgData name="Niakale Diawara" userId="e3a0cd8d70ccd716" providerId="LiveId" clId="{28ADBBDB-E822-45E3-A835-35D71739ECCF}" dt="2026-04-29T12:56:57.196" v="153" actId="14100"/>
          <ac:picMkLst>
            <pc:docMk/>
            <pc:sldMk cId="1443951026" sldId="264"/>
            <ac:picMk id="9" creationId="{F97F98E0-4DC7-0086-4E80-6A73492CD6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5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1371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73736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>
                <a:solidFill>
                  <a:srgbClr val="3B82F6"/>
                </a:solidFill>
              </a:rPr>
              <a:t>GESTION DE STOCK INTELLIGENTE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</a:rPr>
              <a:t>StockSmart </a:t>
            </a:r>
            <a:r>
              <a:rPr lang="en-US" sz="7200" b="1">
                <a:solidFill>
                  <a:srgbClr val="3B82F6"/>
                </a:solidFill>
              </a:rPr>
              <a:t>Pro</a:t>
            </a:r>
            <a:endParaRPr lang="en-US" sz="720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94A3B8"/>
                </a:solidFill>
              </a:rPr>
              <a:t>Plateforme</a:t>
            </a:r>
            <a:r>
              <a:rPr lang="en-US" sz="1600" i="1" dirty="0">
                <a:solidFill>
                  <a:srgbClr val="94A3B8"/>
                </a:solidFill>
              </a:rPr>
              <a:t> web de gestion de stock multi-</a:t>
            </a:r>
            <a:r>
              <a:rPr lang="en-US" sz="1600" i="1" dirty="0" err="1">
                <a:solidFill>
                  <a:srgbClr val="94A3B8"/>
                </a:solidFill>
              </a:rPr>
              <a:t>enseignes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PHP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MySQL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HTML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CSS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JavaScript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02336" y="448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Mahjoub Omaima  ·  Niakale Diawara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40CEFFC-665B-D191-854E-8C0866531BA6}"/>
              </a:ext>
            </a:extLst>
          </p:cNvPr>
          <p:cNvSpPr/>
          <p:nvPr/>
        </p:nvSpPr>
        <p:spPr>
          <a:xfrm>
            <a:off x="402336" y="40965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0070C0"/>
                </a:solidFill>
              </a:rPr>
              <a:t>https://github.com/Ndwr04/StockSmart-Pro</a:t>
            </a:r>
            <a:endParaRPr 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97F98E0-4DC7-0086-4E80-6A73492C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5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LE SUJET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1 - </a:t>
            </a:r>
            <a:r>
              <a:rPr lang="en-US" sz="2600" b="1" dirty="0" err="1">
                <a:solidFill>
                  <a:srgbClr val="FFFFFF"/>
                </a:solidFill>
              </a:rPr>
              <a:t>Pourquoi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StockSmart</a:t>
            </a:r>
            <a:r>
              <a:rPr lang="en-US" sz="2600" b="1" dirty="0">
                <a:solidFill>
                  <a:srgbClr val="FFFFFF"/>
                </a:solidFill>
              </a:rPr>
              <a:t> Pro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LE PROBLÈME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Gestion manuelle sur papier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54864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Perte d'informations fréquente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4864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Aucune traçabilité des mouvements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548640" y="2935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Ruptures non détectées à temps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Données éparpillées entre enseignes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800600" y="914400"/>
            <a:ext cx="40233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875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LA SOLUTION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49834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Suivi</a:t>
            </a:r>
            <a:r>
              <a:rPr lang="en-US" sz="1200">
                <a:solidFill>
                  <a:srgbClr val="065F46"/>
                </a:solidFill>
              </a:rPr>
              <a:t> du stock </a:t>
            </a:r>
            <a:r>
              <a:rPr lang="en-US" sz="1200" err="1">
                <a:solidFill>
                  <a:srgbClr val="065F46"/>
                </a:solidFill>
              </a:rPr>
              <a:t>en</a:t>
            </a:r>
            <a:r>
              <a:rPr lang="en-US" sz="1200">
                <a:solidFill>
                  <a:srgbClr val="065F46"/>
                </a:solidFill>
              </a:rPr>
              <a:t> temps </a:t>
            </a:r>
            <a:r>
              <a:rPr lang="en-US" sz="1200" err="1">
                <a:solidFill>
                  <a:srgbClr val="065F46"/>
                </a:solidFill>
              </a:rPr>
              <a:t>réel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98348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Alertes automatiques de rupture</a:t>
            </a:r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498348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Traçabilité complète des mouvements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4983480" y="2935224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Gérer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plusieurs</a:t>
            </a:r>
            <a:r>
              <a:rPr lang="en-US" sz="1200">
                <a:solidFill>
                  <a:srgbClr val="065F46"/>
                </a:solidFill>
              </a:rPr>
              <a:t> </a:t>
            </a:r>
            <a:r>
              <a:rPr lang="en-US" sz="1200" err="1">
                <a:solidFill>
                  <a:srgbClr val="065F46"/>
                </a:solidFill>
              </a:rPr>
              <a:t>enseigne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simultanément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98348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Accessible depuis tout navigateur</a:t>
            </a:r>
            <a:endParaRPr lang="en-US" sz="1200"/>
          </a:p>
        </p:txBody>
      </p:sp>
      <p:sp>
        <p:nvSpPr>
          <p:cNvPr id="23" name="Text 19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4748B"/>
                </a:solidFill>
              </a:rPr>
              <a:t>Cibles : Magasins · Enseignes commerciales · E-commerce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FONCTIONNEMENT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2 - Comment </a:t>
            </a:r>
            <a:r>
              <a:rPr lang="en-US" sz="2600" b="1" dirty="0" err="1">
                <a:solidFill>
                  <a:srgbClr val="FFFFFF"/>
                </a:solidFill>
              </a:rPr>
              <a:t>ça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marche</a:t>
            </a:r>
            <a:r>
              <a:rPr lang="en-US" sz="2600" b="1" dirty="0">
                <a:solidFill>
                  <a:srgbClr val="FFFFFF"/>
                </a:solidFill>
              </a:rPr>
              <a:t>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01</a:t>
            </a:r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43891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Arrivée sur le site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Landing page StockSmart Pro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404872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02</a:t>
            </a:r>
            <a:endParaRPr lang="en-US" sz="3200"/>
          </a:p>
        </p:txBody>
      </p:sp>
      <p:sp>
        <p:nvSpPr>
          <p:cNvPr id="14" name="Shape 12"/>
          <p:cNvSpPr/>
          <p:nvPr/>
        </p:nvSpPr>
        <p:spPr>
          <a:xfrm>
            <a:off x="3182112" y="1920240"/>
            <a:ext cx="438912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96312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Inscription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2496312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Créer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une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enseigne</a:t>
            </a:r>
            <a:r>
              <a:rPr lang="en-US" sz="1050">
                <a:solidFill>
                  <a:srgbClr val="64748B"/>
                </a:solidFill>
              </a:rPr>
              <a:t> (Admin)</a:t>
            </a:r>
            <a:endParaRPr lang="en-US" sz="1050">
              <a:solidFill>
                <a:srgbClr val="000000"/>
              </a:solidFill>
            </a:endParaRPr>
          </a:p>
          <a:p>
            <a:pPr algn="ctr"/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Ou </a:t>
            </a:r>
            <a:r>
              <a:rPr lang="en-US" sz="1050" err="1">
                <a:solidFill>
                  <a:srgbClr val="64748B"/>
                </a:solidFill>
              </a:rPr>
              <a:t>rejoindre</a:t>
            </a:r>
            <a:r>
              <a:rPr lang="en-US" sz="1050">
                <a:solidFill>
                  <a:srgbClr val="64748B"/>
                </a:solidFill>
              </a:rPr>
              <a:t> via code invitation (</a:t>
            </a:r>
            <a:r>
              <a:rPr lang="en-US" sz="1050" err="1">
                <a:solidFill>
                  <a:srgbClr val="64748B"/>
                </a:solidFill>
              </a:rPr>
              <a:t>Employé</a:t>
            </a:r>
            <a:r>
              <a:rPr lang="en-US" sz="1050">
                <a:solidFill>
                  <a:srgbClr val="64748B"/>
                </a:solidFill>
              </a:rPr>
              <a:t>)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81144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03</a:t>
            </a:r>
            <a:endParaRPr lang="en-US" sz="3200"/>
          </a:p>
        </p:txBody>
      </p:sp>
      <p:sp>
        <p:nvSpPr>
          <p:cNvPr id="20" name="Shape 18"/>
          <p:cNvSpPr/>
          <p:nvPr/>
        </p:nvSpPr>
        <p:spPr>
          <a:xfrm>
            <a:off x="5358384" y="1920240"/>
            <a:ext cx="4389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72584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Tableau de bord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72584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Nombre de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Valeur total du stock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de rupture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Activité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récente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57416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04</a:t>
            </a:r>
            <a:endParaRPr lang="en-US" sz="3200"/>
          </a:p>
        </p:txBody>
      </p:sp>
      <p:sp>
        <p:nvSpPr>
          <p:cNvPr id="26" name="Shape 24"/>
          <p:cNvSpPr/>
          <p:nvPr/>
        </p:nvSpPr>
        <p:spPr>
          <a:xfrm>
            <a:off x="7534656" y="1920240"/>
            <a:ext cx="4389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48856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Gestion quotidienne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6848856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Ajout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Mouvements</a:t>
            </a:r>
            <a:endParaRPr lang="en-US" sz="1050" err="1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automatiques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Stack technique : PHP (serveur)  ·  MySQL (données)  ·  HTML/CSS (interface)  ·  JavaScript (dynamisme)  ·  password_hash() (sécurité)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FONCTIONNALITÉS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3 - </a:t>
            </a:r>
            <a:r>
              <a:rPr lang="en-US" sz="2600" b="1" dirty="0" err="1">
                <a:solidFill>
                  <a:srgbClr val="FFFFFF"/>
                </a:solidFill>
              </a:rPr>
              <a:t>piliers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l'application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Gestion des produits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61872" y="13030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Ajout, modification, suppression.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Photos chargées automatiquement via l’API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Open Food </a:t>
            </a:r>
            <a:r>
              <a:rPr lang="fr-FR" sz="1050" dirty="0" err="1">
                <a:solidFill>
                  <a:srgbClr val="64748B"/>
                </a:solidFill>
              </a:rPr>
              <a:t>Facts</a:t>
            </a:r>
            <a:r>
              <a:rPr lang="fr-FR" sz="1050" dirty="0">
                <a:solidFill>
                  <a:srgbClr val="64748B"/>
                </a:solidFill>
              </a:rPr>
              <a:t>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Mouvements de stock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24144" y="1322864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Chaque entrée/sortie tracée avec employé, heure et quantité.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Mise à jour automatique via trigger SQL.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Multi-enseignes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56619" y="32232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fr-FR" sz="1050" dirty="0">
              <a:solidFill>
                <a:srgbClr val="64748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Rôles Admin et Employé.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Chaque enseigne totalement cloisonnée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Données 100% isolées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Dashboard temps réel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5742432" y="3138823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fr-FR" sz="1050" dirty="0">
              <a:solidFill>
                <a:srgbClr val="64748B"/>
              </a:solidFill>
            </a:endParaRPr>
          </a:p>
          <a:p>
            <a:endParaRPr lang="fr-FR" sz="1050" dirty="0">
              <a:solidFill>
                <a:srgbClr val="64748B"/>
              </a:solidFill>
            </a:endParaRPr>
          </a:p>
          <a:p>
            <a:r>
              <a:rPr lang="fr-FR" sz="1050" dirty="0">
                <a:solidFill>
                  <a:srgbClr val="64748B"/>
                </a:solidFill>
              </a:rPr>
              <a:t>KPIs en un coup d'œil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Stock global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Valeur totale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Alertes de rupture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Activité récente.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PAGES DU SITE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4 - Architecture &amp; </a:t>
            </a:r>
            <a:r>
              <a:rPr lang="en-US" sz="2600" b="1" dirty="0" err="1">
                <a:solidFill>
                  <a:srgbClr val="FFFFFF"/>
                </a:solidFill>
              </a:rPr>
              <a:t>Organisation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PHP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en-US" sz="900" err="1">
                <a:solidFill>
                  <a:srgbClr val="334155"/>
                </a:solidFill>
              </a:rPr>
              <a:t>index.php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inscription.php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connexion.php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dashboard.php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produits.php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65760" y="331927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categories.php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69417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mouvements.php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admin.php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42316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HTML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251460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categorie-add.html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1460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categorie-edit.html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1460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56032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>
                <a:effectLst/>
                <a:latin typeface="Helvetica" pitchFamily="2" charset="0"/>
              </a:rPr>
              <a:t>mouvement-</a:t>
            </a:r>
            <a:r>
              <a:rPr lang="fr-FR" sz="900" err="1">
                <a:effectLst/>
                <a:latin typeface="Helvetica" pitchFamily="2" charset="0"/>
              </a:rPr>
              <a:t>add.ht</a:t>
            </a:r>
            <a:r>
              <a:rPr lang="fr-FR" sz="900" err="1">
                <a:latin typeface="Helvetica" pitchFamily="2" charset="0"/>
              </a:rPr>
              <a:t>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CSS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466344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0916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css/style.css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72084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JS</a:t>
            </a:r>
            <a:endParaRPr lang="en-US" sz="1300"/>
          </a:p>
        </p:txBody>
      </p:sp>
      <p:sp>
        <p:nvSpPr>
          <p:cNvPr id="41" name="Shape 39"/>
          <p:cNvSpPr/>
          <p:nvPr/>
        </p:nvSpPr>
        <p:spPr>
          <a:xfrm>
            <a:off x="681228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js/script.js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81228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85800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js/off-photos.js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B82F6"/>
                </a:solidFill>
              </a:rPr>
              <a:t>assets/img/  →  Images landing page &amp; photos produits uploadées</a:t>
            </a:r>
            <a:endParaRPr lang="en-US" sz="100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B305B76A-9D6C-ACA5-A608-37D8ACE1D373}"/>
              </a:ext>
            </a:extLst>
          </p:cNvPr>
          <p:cNvSpPr/>
          <p:nvPr/>
        </p:nvSpPr>
        <p:spPr>
          <a:xfrm>
            <a:off x="251460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900">
                <a:solidFill>
                  <a:srgbClr val="334155"/>
                </a:solidFill>
              </a:rPr>
              <a:t> › </a:t>
            </a:r>
            <a:r>
              <a:rPr lang="fr-FR" sz="900">
                <a:latin typeface="Helvetica" pitchFamily="2" charset="0"/>
              </a:rPr>
              <a:t>produit-</a:t>
            </a:r>
            <a:r>
              <a:rPr lang="fr-FR" sz="900" err="1">
                <a:latin typeface="Helvetica" pitchFamily="2" charset="0"/>
              </a:rPr>
              <a:t>edit.html</a:t>
            </a:r>
            <a:endParaRPr lang="fr-FR" sz="900">
              <a:latin typeface="Helvetica" pitchFamily="2" charset="0"/>
            </a:endParaRPr>
          </a:p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BASE DE DONNÉES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5 - stocksmart_v2 — </a:t>
            </a:r>
            <a:r>
              <a:rPr lang="en-US" sz="2600" b="1" dirty="0" err="1">
                <a:solidFill>
                  <a:srgbClr val="FFFFFF"/>
                </a:solidFill>
              </a:rPr>
              <a:t>Schéma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relationnel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enseignes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5603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182697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18288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>
                <a:ea typeface="Calibri"/>
                <a:cs typeface="Calibri"/>
              </a:rPr>
              <a:t>   </a:t>
            </a:r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182697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25603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code_invitation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182697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8288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603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actif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182697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BOOLEAN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3246120" y="868680"/>
            <a:ext cx="2651760" cy="1650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utilisateurs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31927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489021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24612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1927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prenom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489021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331927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email / mot_de_passe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89021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324612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1927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role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89021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3319272" y="225856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enseigne_id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890211" y="225856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6309360" y="8686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categories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38251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795345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630936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8251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795345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1" name="Shape 39"/>
          <p:cNvSpPr/>
          <p:nvPr/>
        </p:nvSpPr>
        <p:spPr>
          <a:xfrm>
            <a:off x="18288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produits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25603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182697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18288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603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reference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82697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25603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marque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182697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51" name="Shape 49"/>
          <p:cNvSpPr/>
          <p:nvPr/>
        </p:nvSpPr>
        <p:spPr>
          <a:xfrm>
            <a:off x="18288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5603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 / prix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182697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/ DECIMAL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25603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seuil_alerte</a:t>
            </a:r>
            <a:endParaRPr lang="en-US" sz="850"/>
          </a:p>
        </p:txBody>
      </p:sp>
      <p:sp>
        <p:nvSpPr>
          <p:cNvPr id="55" name="Text 53"/>
          <p:cNvSpPr/>
          <p:nvPr/>
        </p:nvSpPr>
        <p:spPr>
          <a:xfrm>
            <a:off x="182697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>
          <a:xfrm>
            <a:off x="18288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5603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categorie_id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182697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59" name="Shape 57"/>
          <p:cNvSpPr/>
          <p:nvPr/>
        </p:nvSpPr>
        <p:spPr>
          <a:xfrm>
            <a:off x="630936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mouvements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638251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63" name="Text 61"/>
          <p:cNvSpPr/>
          <p:nvPr/>
        </p:nvSpPr>
        <p:spPr>
          <a:xfrm>
            <a:off x="795345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630936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38251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type_mouvement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795345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638251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795345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69" name="Shape 67"/>
          <p:cNvSpPr/>
          <p:nvPr/>
        </p:nvSpPr>
        <p:spPr>
          <a:xfrm>
            <a:off x="630936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38251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date_mouvement</a:t>
            </a:r>
            <a:endParaRPr lang="en-US" sz="850"/>
          </a:p>
        </p:txBody>
      </p:sp>
      <p:sp>
        <p:nvSpPr>
          <p:cNvPr id="71" name="Text 69"/>
          <p:cNvSpPr/>
          <p:nvPr/>
        </p:nvSpPr>
        <p:spPr>
          <a:xfrm>
            <a:off x="795345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DATETIME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638251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produit_id</a:t>
            </a:r>
            <a:endParaRPr lang="en-US" sz="850"/>
          </a:p>
        </p:txBody>
      </p:sp>
      <p:sp>
        <p:nvSpPr>
          <p:cNvPr id="73" name="Text 71"/>
          <p:cNvSpPr/>
          <p:nvPr/>
        </p:nvSpPr>
        <p:spPr>
          <a:xfrm>
            <a:off x="795345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4" name="Shape 72"/>
          <p:cNvSpPr/>
          <p:nvPr/>
        </p:nvSpPr>
        <p:spPr>
          <a:xfrm>
            <a:off x="630936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638251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utilisateur_id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795345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7" name="Shape 75"/>
          <p:cNvSpPr/>
          <p:nvPr/>
        </p:nvSpPr>
        <p:spPr>
          <a:xfrm>
            <a:off x="3246120" y="2633472"/>
            <a:ext cx="2651760" cy="1911096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⚡ TRIGGER SQL</a:t>
            </a:r>
            <a:endParaRPr lang="en-US" sz="1000"/>
          </a:p>
        </p:txBody>
      </p:sp>
      <p:sp>
        <p:nvSpPr>
          <p:cNvPr id="80" name="Text 78"/>
          <p:cNvSpPr/>
          <p:nvPr/>
        </p:nvSpPr>
        <p:spPr>
          <a:xfrm>
            <a:off x="3355848" y="301752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334155"/>
                </a:solidFill>
              </a:rPr>
              <a:t>AFTER INSERT ON mouvements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UPDATE produits SET quantite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GREATEST(0, quantite - NEW.quantite)</a:t>
            </a:r>
            <a:endParaRPr lang="en-US" sz="950"/>
          </a:p>
        </p:txBody>
      </p:sp>
      <p:sp>
        <p:nvSpPr>
          <p:cNvPr id="81" name="Shape 79"/>
          <p:cNvSpPr/>
          <p:nvPr/>
        </p:nvSpPr>
        <p:spPr>
          <a:xfrm>
            <a:off x="2834640" y="1600200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2761488" y="1399032"/>
            <a:ext cx="2926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044952" y="1399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84" name="Shape 82"/>
          <p:cNvSpPr/>
          <p:nvPr/>
        </p:nvSpPr>
        <p:spPr>
          <a:xfrm>
            <a:off x="7635240" y="1563624"/>
            <a:ext cx="0" cy="106984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7594600" y="1346200"/>
            <a:ext cx="269240" cy="43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604760" y="2372868"/>
            <a:ext cx="25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834640" y="4083268"/>
            <a:ext cx="34747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2626360" y="3762756"/>
            <a:ext cx="228397" cy="621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245225" y="3927349"/>
            <a:ext cx="184149" cy="323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897880" y="2240280"/>
            <a:ext cx="411480" cy="185623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🔑 Clé primaire (PK)   →  Clé étrangère (FK)   ╌  Relation 1→N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ASPECTS TECHNIQUES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6 - Ce qui rend le </a:t>
            </a:r>
            <a:r>
              <a:rPr lang="en-US" sz="2600" b="1" dirty="0" err="1">
                <a:solidFill>
                  <a:srgbClr val="FFFFFF"/>
                </a:solidFill>
              </a:rPr>
              <a:t>projet</a:t>
            </a:r>
            <a:r>
              <a:rPr lang="en-US" sz="2600" b="1" dirty="0">
                <a:solidFill>
                  <a:srgbClr val="FFFFFF"/>
                </a:solidFill>
              </a:rPr>
              <a:t> unique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API Open Food Facts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43584" y="129844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Saisir nom + marque → photo chargée automatiquement.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>
                <a:solidFill>
                  <a:srgbClr val="64748B"/>
                </a:solidFill>
              </a:rPr>
              <a:t>Cache navigateur intégré pour les performances.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Trigger SQL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53911" y="1289304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La BDD se met à jour </a:t>
            </a:r>
            <a:r>
              <a:rPr lang="en-US" sz="1050" dirty="0" err="1">
                <a:solidFill>
                  <a:srgbClr val="64748B"/>
                </a:solidFill>
              </a:rPr>
              <a:t>seule</a:t>
            </a:r>
            <a:r>
              <a:rPr lang="en-US" sz="1050" dirty="0">
                <a:solidFill>
                  <a:srgbClr val="64748B"/>
                </a:solidFill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64748B"/>
                </a:solidFill>
              </a:rPr>
              <a:t>Intégrité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garantie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même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en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cas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d'erreur</a:t>
            </a:r>
            <a:r>
              <a:rPr lang="en-US" sz="1050" dirty="0">
                <a:solidFill>
                  <a:srgbClr val="64748B"/>
                </a:solidFill>
              </a:rPr>
              <a:t> réseau </a:t>
            </a:r>
            <a:r>
              <a:rPr lang="en-US" sz="1050" dirty="0" err="1">
                <a:solidFill>
                  <a:srgbClr val="64748B"/>
                </a:solidFill>
              </a:rPr>
              <a:t>côté</a:t>
            </a:r>
            <a:r>
              <a:rPr lang="en-US" sz="1050" dirty="0">
                <a:solidFill>
                  <a:srgbClr val="64748B"/>
                </a:solidFill>
              </a:rPr>
              <a:t> PHP.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Architecture multi-tenant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43584" y="3099816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64748B"/>
                </a:solidFill>
              </a:rPr>
              <a:t>Chaque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enseigne</a:t>
            </a:r>
            <a:r>
              <a:rPr lang="en-US" sz="1050" dirty="0">
                <a:solidFill>
                  <a:srgbClr val="64748B"/>
                </a:solidFill>
              </a:rPr>
              <a:t> a son </a:t>
            </a:r>
            <a:r>
              <a:rPr lang="en-US" sz="1050" dirty="0" err="1">
                <a:solidFill>
                  <a:srgbClr val="64748B"/>
                </a:solidFill>
              </a:rPr>
              <a:t>enseigne_id</a:t>
            </a:r>
            <a:r>
              <a:rPr lang="en-US" sz="1050" dirty="0">
                <a:solidFill>
                  <a:srgbClr val="64748B"/>
                </a:solidFill>
              </a:rPr>
              <a:t> unique.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64748B"/>
                </a:solidFill>
              </a:rPr>
              <a:t>Toutes</a:t>
            </a:r>
            <a:r>
              <a:rPr lang="en-US" sz="1050" dirty="0">
                <a:solidFill>
                  <a:srgbClr val="64748B"/>
                </a:solidFill>
              </a:rPr>
              <a:t> les </a:t>
            </a:r>
            <a:r>
              <a:rPr lang="en-US" sz="1050" dirty="0" err="1">
                <a:solidFill>
                  <a:srgbClr val="64748B"/>
                </a:solidFill>
              </a:rPr>
              <a:t>requêtes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sont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filtrées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</a:p>
          <a:p>
            <a:r>
              <a:rPr lang="en-US" sz="1050" dirty="0">
                <a:solidFill>
                  <a:srgbClr val="64748B"/>
                </a:solidFill>
              </a:rPr>
              <a:t>—&gt; isolation </a:t>
            </a:r>
            <a:r>
              <a:rPr lang="en-US" sz="1050" dirty="0" err="1">
                <a:solidFill>
                  <a:srgbClr val="64748B"/>
                </a:solidFill>
              </a:rPr>
              <a:t>totale</a:t>
            </a:r>
            <a:r>
              <a:rPr lang="en-US" sz="1050" dirty="0">
                <a:solidFill>
                  <a:srgbClr val="64748B"/>
                </a:solidFill>
              </a:rPr>
              <a:t>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Sécurité centralisée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5723560" y="321868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64748B"/>
                </a:solidFill>
              </a:rPr>
              <a:t>config.php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regroupe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requireLogin</a:t>
            </a:r>
            <a:r>
              <a:rPr lang="en-US" sz="1050" dirty="0">
                <a:solidFill>
                  <a:srgbClr val="64748B"/>
                </a:solidFill>
              </a:rPr>
              <a:t>(), </a:t>
            </a:r>
            <a:r>
              <a:rPr lang="en-US" sz="1050" dirty="0" err="1">
                <a:solidFill>
                  <a:srgbClr val="64748B"/>
                </a:solidFill>
              </a:rPr>
              <a:t>isAdmin</a:t>
            </a:r>
            <a:r>
              <a:rPr lang="en-US" sz="1050" dirty="0">
                <a:solidFill>
                  <a:srgbClr val="64748B"/>
                </a:solidFill>
              </a:rPr>
              <a:t>(), </a:t>
            </a:r>
            <a:r>
              <a:rPr lang="en-US" sz="1050" dirty="0" err="1">
                <a:solidFill>
                  <a:srgbClr val="64748B"/>
                </a:solidFill>
              </a:rPr>
              <a:t>canEdit</a:t>
            </a:r>
            <a:r>
              <a:rPr lang="en-US" sz="1050" dirty="0">
                <a:solidFill>
                  <a:srgbClr val="64748B"/>
                </a:solidFill>
              </a:rPr>
              <a:t>().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Une </a:t>
            </a:r>
            <a:r>
              <a:rPr lang="en-US" sz="1050" dirty="0" err="1">
                <a:solidFill>
                  <a:srgbClr val="64748B"/>
                </a:solidFill>
              </a:rPr>
              <a:t>règle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changée</a:t>
            </a:r>
            <a:r>
              <a:rPr lang="en-US" sz="1050" dirty="0">
                <a:solidFill>
                  <a:srgbClr val="64748B"/>
                </a:solidFill>
              </a:rPr>
              <a:t> = </a:t>
            </a:r>
            <a:r>
              <a:rPr lang="en-US" sz="1050" dirty="0" err="1">
                <a:solidFill>
                  <a:srgbClr val="64748B"/>
                </a:solidFill>
              </a:rPr>
              <a:t>appliquée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partout</a:t>
            </a:r>
            <a:r>
              <a:rPr lang="en-US" sz="1050" dirty="0">
                <a:solidFill>
                  <a:srgbClr val="64748B"/>
                </a:solidFill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858768" y="274320"/>
            <a:ext cx="1426464" cy="14264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5072" y="420624"/>
            <a:ext cx="1133856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</a:rPr>
              <a:t>StockSmart </a:t>
            </a:r>
            <a:r>
              <a:rPr lang="en-US" sz="6000" b="1">
                <a:solidFill>
                  <a:srgbClr val="3B82F6"/>
                </a:solidFill>
              </a:rPr>
              <a:t>Pro</a:t>
            </a:r>
            <a:endParaRPr lang="en-US" sz="600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94A3B8"/>
                </a:solidFill>
              </a:rPr>
              <a:t>Une application web complète, sécurisée et originale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3200400" y="3410712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Photos automatiques (Open Food Facts)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Trigger SQL pour l'intégrité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Architecture multi-enseignes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4748B"/>
                </a:solidFill>
              </a:rPr>
              <a:t>Merci pour votre attention — Questions ?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667</Words>
  <Application>Microsoft Office PowerPoint</Application>
  <PresentationFormat>Affichage à l'écran (16:9)</PresentationFormat>
  <Paragraphs>190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StockSmart Pro</dc:title>
  <dc:subject>PptxGenJS Presentation</dc:subject>
  <dc:creator>PptxGenJS</dc:creator>
  <cp:lastModifiedBy>Niakale Diawara</cp:lastModifiedBy>
  <cp:revision>4</cp:revision>
  <dcterms:created xsi:type="dcterms:W3CDTF">2026-04-12T09:27:42Z</dcterms:created>
  <dcterms:modified xsi:type="dcterms:W3CDTF">2026-04-29T12:57:02Z</dcterms:modified>
</cp:coreProperties>
</file>