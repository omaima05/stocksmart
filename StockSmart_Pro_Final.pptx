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5" r:id="rId4"/>
    <p:sldId id="266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3B8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9A330-6D72-1247-B945-3FEB5D51A3DF}" v="19" dt="2026-04-29T20:30:16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77"/>
  </p:normalViewPr>
  <p:slideViewPr>
    <p:cSldViewPr snapToGrid="0">
      <p:cViewPr varScale="1">
        <p:scale>
          <a:sx n="123" d="100"/>
          <a:sy n="123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5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63549"/>
          </a:solidFill>
          <a:ln w="12700">
            <a:solidFill>
              <a:srgbClr val="2635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3063240"/>
            <a:ext cx="1371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737360" y="548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>
                <a:solidFill>
                  <a:srgbClr val="3B82F6"/>
                </a:solidFill>
              </a:rPr>
              <a:t>GESTION DE STOCK INTELLIGENTE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 err="1">
                <a:solidFill>
                  <a:srgbClr val="FFFFFF"/>
                </a:solidFill>
              </a:rPr>
              <a:t>StockSmart</a:t>
            </a:r>
            <a:r>
              <a:rPr lang="en-US" sz="7200" b="1" dirty="0">
                <a:solidFill>
                  <a:srgbClr val="FFFFFF"/>
                </a:solidFill>
              </a:rPr>
              <a:t> </a:t>
            </a:r>
            <a:r>
              <a:rPr lang="en-US" sz="7200" b="1" dirty="0">
                <a:solidFill>
                  <a:srgbClr val="3B82F6"/>
                </a:solidFill>
              </a:rPr>
              <a:t>Pro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94A3B8"/>
                </a:solidFill>
              </a:rPr>
              <a:t>Plateforme</a:t>
            </a:r>
            <a:r>
              <a:rPr lang="en-US" sz="1600" i="1" dirty="0">
                <a:solidFill>
                  <a:srgbClr val="94A3B8"/>
                </a:solidFill>
              </a:rPr>
              <a:t> web de gestion de stock multi-</a:t>
            </a:r>
            <a:r>
              <a:rPr lang="en-US" sz="1600" i="1" dirty="0" err="1">
                <a:solidFill>
                  <a:srgbClr val="94A3B8"/>
                </a:solidFill>
              </a:rPr>
              <a:t>enseignes</a:t>
            </a:r>
            <a:endParaRPr lang="en-US" sz="1600" dirty="0">
              <a:solidFill>
                <a:srgbClr val="94A3B8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PHP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2121408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121408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MySQL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785616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785616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HTML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449824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49824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CSS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7114032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114032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JavaScript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02336" y="4483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</a:rPr>
              <a:t>Mahjoub Omaima  ·  Niakale Diawara</a:t>
            </a:r>
            <a:endParaRPr lang="en-US" sz="110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40CEFFC-665B-D191-854E-8C0866531BA6}"/>
              </a:ext>
            </a:extLst>
          </p:cNvPr>
          <p:cNvSpPr/>
          <p:nvPr/>
        </p:nvSpPr>
        <p:spPr>
          <a:xfrm>
            <a:off x="457200" y="41072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94A3B8"/>
                </a:solidFill>
              </a:rPr>
              <a:t>Github</a:t>
            </a:r>
            <a:r>
              <a:rPr lang="en-US" sz="1600" i="1" dirty="0">
                <a:solidFill>
                  <a:srgbClr val="94A3B8"/>
                </a:solidFill>
              </a:rPr>
              <a:t>: https://</a:t>
            </a:r>
            <a:r>
              <a:rPr lang="en-US" sz="1600" i="1" dirty="0" err="1">
                <a:solidFill>
                  <a:srgbClr val="94A3B8"/>
                </a:solidFill>
              </a:rPr>
              <a:t>github.com</a:t>
            </a:r>
            <a:r>
              <a:rPr lang="en-US" sz="1600" i="1" dirty="0">
                <a:solidFill>
                  <a:srgbClr val="94A3B8"/>
                </a:solidFill>
              </a:rPr>
              <a:t>/Omaima05/</a:t>
            </a:r>
            <a:r>
              <a:rPr lang="en-US" sz="1600" i="1" dirty="0" err="1">
                <a:solidFill>
                  <a:srgbClr val="94A3B8"/>
                </a:solidFill>
              </a:rPr>
              <a:t>StockSmart.git</a:t>
            </a:r>
            <a:r>
              <a:rPr lang="en-US" sz="1600" i="1" dirty="0">
                <a:solidFill>
                  <a:srgbClr val="94A3B8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20C24B2-A33F-F15D-5BD4-F367CA12D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6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LE SUJET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1 - </a:t>
            </a:r>
            <a:r>
              <a:rPr lang="en-US" sz="2600" b="1" dirty="0" err="1">
                <a:solidFill>
                  <a:srgbClr val="FFFFFF"/>
                </a:solidFill>
              </a:rPr>
              <a:t>Pourquoi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StockSmart</a:t>
            </a:r>
            <a:r>
              <a:rPr lang="en-US" sz="2600" b="1" dirty="0">
                <a:solidFill>
                  <a:srgbClr val="FFFFFF"/>
                </a:solidFill>
              </a:rPr>
              <a:t> Pro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LE PROBLÈME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Gestion manuelle sur papier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54864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Perte d'informations fréquente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548640" y="2459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Aucune traçabilité des mouvements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548640" y="29352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Ruptures non détectées à temps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Données éparpillées entre enseignes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4800600" y="914400"/>
            <a:ext cx="40233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98755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LA SOLUTION</a:t>
            </a:r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49834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065F46"/>
                </a:solidFill>
              </a:rPr>
              <a:t>✓ </a:t>
            </a:r>
            <a:r>
              <a:rPr lang="en-US" sz="1200" err="1">
                <a:solidFill>
                  <a:srgbClr val="065F46"/>
                </a:solidFill>
              </a:rPr>
              <a:t>Suivi</a:t>
            </a:r>
            <a:r>
              <a:rPr lang="en-US" sz="1200">
                <a:solidFill>
                  <a:srgbClr val="065F46"/>
                </a:solidFill>
              </a:rPr>
              <a:t> du stock </a:t>
            </a:r>
            <a:r>
              <a:rPr lang="en-US" sz="1200" err="1">
                <a:solidFill>
                  <a:srgbClr val="065F46"/>
                </a:solidFill>
              </a:rPr>
              <a:t>en</a:t>
            </a:r>
            <a:r>
              <a:rPr lang="en-US" sz="1200">
                <a:solidFill>
                  <a:srgbClr val="065F46"/>
                </a:solidFill>
              </a:rPr>
              <a:t> temps </a:t>
            </a:r>
            <a:r>
              <a:rPr lang="en-US" sz="1200" err="1">
                <a:solidFill>
                  <a:srgbClr val="065F46"/>
                </a:solidFill>
              </a:rPr>
              <a:t>réel</a:t>
            </a:r>
            <a:endParaRPr lang="en-US" sz="1200" err="1">
              <a:solidFill>
                <a:srgbClr val="065F46"/>
              </a:solidFill>
              <a:ea typeface="Calibri"/>
              <a:cs typeface="Calibri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98348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Alertes automatiques de rupture</a:t>
            </a:r>
            <a:endParaRPr lang="en-US" sz="1200"/>
          </a:p>
        </p:txBody>
      </p:sp>
      <p:sp>
        <p:nvSpPr>
          <p:cNvPr id="20" name="Text 16"/>
          <p:cNvSpPr/>
          <p:nvPr/>
        </p:nvSpPr>
        <p:spPr>
          <a:xfrm>
            <a:off x="4983480" y="2459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Traçabilité complète des mouvements</a:t>
            </a:r>
            <a:endParaRPr lang="en-US" sz="1200"/>
          </a:p>
        </p:txBody>
      </p:sp>
      <p:sp>
        <p:nvSpPr>
          <p:cNvPr id="21" name="Text 17"/>
          <p:cNvSpPr/>
          <p:nvPr/>
        </p:nvSpPr>
        <p:spPr>
          <a:xfrm>
            <a:off x="4983480" y="2935224"/>
            <a:ext cx="36576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065F46"/>
                </a:solidFill>
              </a:rPr>
              <a:t>✓ </a:t>
            </a:r>
            <a:r>
              <a:rPr lang="en-US" sz="1200" err="1">
                <a:solidFill>
                  <a:srgbClr val="065F46"/>
                </a:solidFill>
              </a:rPr>
              <a:t>Gérer</a:t>
            </a:r>
            <a:r>
              <a:rPr lang="en-US" sz="1200">
                <a:solidFill>
                  <a:srgbClr val="065F46"/>
                </a:solidFill>
              </a:rPr>
              <a:t> </a:t>
            </a:r>
            <a:r>
              <a:rPr lang="en-US" sz="1200" err="1">
                <a:solidFill>
                  <a:srgbClr val="065F46"/>
                </a:solidFill>
              </a:rPr>
              <a:t>plusieurs</a:t>
            </a:r>
            <a:r>
              <a:rPr lang="en-US" sz="1200">
                <a:solidFill>
                  <a:srgbClr val="065F46"/>
                </a:solidFill>
              </a:rPr>
              <a:t> </a:t>
            </a:r>
            <a:r>
              <a:rPr lang="en-US" sz="1200" err="1">
                <a:solidFill>
                  <a:srgbClr val="065F46"/>
                </a:solidFill>
              </a:rPr>
              <a:t>enseigne</a:t>
            </a:r>
            <a:r>
              <a:rPr lang="en-US" sz="1200">
                <a:solidFill>
                  <a:srgbClr val="065F46"/>
                </a:solidFill>
              </a:rPr>
              <a:t> </a:t>
            </a:r>
            <a:r>
              <a:rPr lang="en-US" sz="1200" err="1">
                <a:solidFill>
                  <a:srgbClr val="065F46"/>
                </a:solidFill>
              </a:rPr>
              <a:t>simultanément</a:t>
            </a:r>
            <a:endParaRPr lang="en-US" sz="1200" err="1">
              <a:solidFill>
                <a:srgbClr val="065F46"/>
              </a:solidFill>
              <a:ea typeface="Calibri"/>
              <a:cs typeface="Calibri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983480" y="3410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Accessible depuis tout navigateur</a:t>
            </a:r>
            <a:endParaRPr lang="en-US" sz="1200"/>
          </a:p>
        </p:txBody>
      </p:sp>
      <p:sp>
        <p:nvSpPr>
          <p:cNvPr id="23" name="Text 19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4748B"/>
                </a:solidFill>
              </a:rPr>
              <a:t>Cibles : Magasins · Enseignes commerciales · E-commerce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</a:rPr>
              <a:t>FONCTIONNEMENT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2 - Comment </a:t>
            </a:r>
            <a:r>
              <a:rPr lang="en-US" sz="2600" b="1" dirty="0" err="1">
                <a:solidFill>
                  <a:srgbClr val="FFFFFF"/>
                </a:solidFill>
              </a:rPr>
              <a:t>ça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marche</a:t>
            </a:r>
            <a:r>
              <a:rPr lang="en-US" sz="2600" b="1" dirty="0">
                <a:solidFill>
                  <a:srgbClr val="FFFFFF"/>
                </a:solidFill>
              </a:rPr>
              <a:t>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99339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01</a:t>
            </a:r>
            <a:endParaRPr lang="en-US" sz="320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43891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Arrivée sur le site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</a:rPr>
              <a:t>Landing page StockSmart Pro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404872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404872" y="960120"/>
            <a:ext cx="199339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04872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02</a:t>
            </a:r>
            <a:endParaRPr lang="en-US" sz="3200"/>
          </a:p>
        </p:txBody>
      </p:sp>
      <p:sp>
        <p:nvSpPr>
          <p:cNvPr id="14" name="Shape 12"/>
          <p:cNvSpPr/>
          <p:nvPr/>
        </p:nvSpPr>
        <p:spPr>
          <a:xfrm>
            <a:off x="3182112" y="1920240"/>
            <a:ext cx="438912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496312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Inscription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2496312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Créer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une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enseigne</a:t>
            </a:r>
            <a:r>
              <a:rPr lang="en-US" sz="1050">
                <a:solidFill>
                  <a:srgbClr val="64748B"/>
                </a:solidFill>
              </a:rPr>
              <a:t> (Admin)</a:t>
            </a:r>
            <a:endParaRPr lang="en-US" sz="1050">
              <a:solidFill>
                <a:srgbClr val="000000"/>
              </a:solidFill>
            </a:endParaRPr>
          </a:p>
          <a:p>
            <a:pPr algn="ctr"/>
            <a:endParaRPr lang="en-US" sz="1050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Ou </a:t>
            </a:r>
            <a:r>
              <a:rPr lang="en-US" sz="1050" err="1">
                <a:solidFill>
                  <a:srgbClr val="64748B"/>
                </a:solidFill>
              </a:rPr>
              <a:t>rejoindre</a:t>
            </a:r>
            <a:r>
              <a:rPr lang="en-US" sz="1050">
                <a:solidFill>
                  <a:srgbClr val="64748B"/>
                </a:solidFill>
              </a:rPr>
              <a:t> via code invitation (</a:t>
            </a:r>
            <a:r>
              <a:rPr lang="en-US" sz="1050" err="1">
                <a:solidFill>
                  <a:srgbClr val="64748B"/>
                </a:solidFill>
              </a:rPr>
              <a:t>Employé</a:t>
            </a:r>
            <a:r>
              <a:rPr lang="en-US" sz="1050">
                <a:solidFill>
                  <a:srgbClr val="64748B"/>
                </a:solidFill>
              </a:rPr>
              <a:t>)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81144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81144" y="960120"/>
            <a:ext cx="19933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81144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03</a:t>
            </a:r>
            <a:endParaRPr lang="en-US" sz="3200"/>
          </a:p>
        </p:txBody>
      </p:sp>
      <p:sp>
        <p:nvSpPr>
          <p:cNvPr id="20" name="Shape 18"/>
          <p:cNvSpPr/>
          <p:nvPr/>
        </p:nvSpPr>
        <p:spPr>
          <a:xfrm>
            <a:off x="5358384" y="1920240"/>
            <a:ext cx="4389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72584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Tableau de bord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4672584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Nombre de </a:t>
            </a:r>
            <a:r>
              <a:rPr lang="en-US" sz="1050" err="1">
                <a:solidFill>
                  <a:srgbClr val="64748B"/>
                </a:solidFill>
              </a:rPr>
              <a:t>produits</a:t>
            </a:r>
            <a:endParaRPr lang="en-US" sz="1050" err="1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Valeur total du stock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Alertes</a:t>
            </a:r>
            <a:r>
              <a:rPr lang="en-US" sz="1050">
                <a:solidFill>
                  <a:srgbClr val="64748B"/>
                </a:solidFill>
              </a:rPr>
              <a:t> de rupture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Activité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récente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57416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757416" y="960120"/>
            <a:ext cx="199339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757416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04</a:t>
            </a:r>
            <a:endParaRPr lang="en-US" sz="3200"/>
          </a:p>
        </p:txBody>
      </p:sp>
      <p:sp>
        <p:nvSpPr>
          <p:cNvPr id="26" name="Shape 24"/>
          <p:cNvSpPr/>
          <p:nvPr/>
        </p:nvSpPr>
        <p:spPr>
          <a:xfrm>
            <a:off x="7534656" y="1920240"/>
            <a:ext cx="43891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48856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Gestion quotidienne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6848856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Ajout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produits</a:t>
            </a:r>
            <a:endParaRPr lang="en-US" sz="1050" err="1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Mouvements</a:t>
            </a:r>
            <a:endParaRPr lang="en-US" sz="1050" err="1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Alertes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automatiques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Stack technique : PHP (serveur)  ·  MySQL (données)  ·  HTML/CSS (interface)  ·  JavaScript (dynamisme)  ·  password_hash() (sécurité)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3 - LES 4 </a:t>
            </a:r>
            <a:r>
              <a:rPr lang="en-US" sz="2600" b="1" dirty="0" err="1">
                <a:solidFill>
                  <a:srgbClr val="FFFFFF"/>
                </a:solidFill>
              </a:rPr>
              <a:t>piliers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l'application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12064" y="1453896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Gestion des produits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1261872" y="1303020"/>
            <a:ext cx="30175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Ajout</a:t>
            </a:r>
            <a:r>
              <a:rPr lang="en-US" sz="1050">
                <a:solidFill>
                  <a:srgbClr val="64748B"/>
                </a:solidFill>
              </a:rPr>
              <a:t>, modification, suppression. 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Photos </a:t>
            </a:r>
            <a:r>
              <a:rPr lang="en-US" sz="1050" err="1">
                <a:solidFill>
                  <a:srgbClr val="64748B"/>
                </a:solidFill>
              </a:rPr>
              <a:t>chargées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automatiquement</a:t>
            </a:r>
            <a:r>
              <a:rPr lang="en-US" sz="1050">
                <a:solidFill>
                  <a:srgbClr val="64748B"/>
                </a:solidFill>
              </a:rPr>
              <a:t> via </a:t>
            </a:r>
            <a:r>
              <a:rPr lang="en-US" sz="1050" err="1">
                <a:solidFill>
                  <a:srgbClr val="64748B"/>
                </a:solidFill>
              </a:rPr>
              <a:t>l'API</a:t>
            </a:r>
            <a:r>
              <a:rPr lang="en-US" sz="1050">
                <a:solidFill>
                  <a:srgbClr val="64748B"/>
                </a:solidFill>
              </a:rPr>
              <a:t> Open Food Facts. 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sz="1050">
              <a:solidFill>
                <a:srgbClr val="64748B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937760" y="139903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2624" y="1453896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4243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Mouvements de stock</a:t>
            </a:r>
            <a:endParaRPr lang="en-US" sz="1350"/>
          </a:p>
        </p:txBody>
      </p:sp>
      <p:sp>
        <p:nvSpPr>
          <p:cNvPr id="14" name="Text 10"/>
          <p:cNvSpPr/>
          <p:nvPr/>
        </p:nvSpPr>
        <p:spPr>
          <a:xfrm>
            <a:off x="5724144" y="1322864"/>
            <a:ext cx="30175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Chaque</a:t>
            </a:r>
            <a:r>
              <a:rPr lang="en-US" sz="1050">
                <a:solidFill>
                  <a:srgbClr val="64748B"/>
                </a:solidFill>
              </a:rPr>
              <a:t> entrée/sortie </a:t>
            </a:r>
            <a:r>
              <a:rPr lang="en-US" sz="1050" err="1">
                <a:solidFill>
                  <a:srgbClr val="64748B"/>
                </a:solidFill>
              </a:rPr>
              <a:t>tracée</a:t>
            </a:r>
            <a:r>
              <a:rPr lang="en-US" sz="1050">
                <a:solidFill>
                  <a:srgbClr val="64748B"/>
                </a:solidFill>
              </a:rPr>
              <a:t> avec </a:t>
            </a:r>
            <a:r>
              <a:rPr lang="en-US" sz="1050" err="1">
                <a:solidFill>
                  <a:srgbClr val="64748B"/>
                </a:solidFill>
              </a:rPr>
              <a:t>employé</a:t>
            </a:r>
            <a:r>
              <a:rPr lang="en-US" sz="1050">
                <a:solidFill>
                  <a:srgbClr val="64748B"/>
                </a:solidFill>
              </a:rPr>
              <a:t>, </a:t>
            </a:r>
            <a:r>
              <a:rPr lang="en-US" sz="1050" err="1">
                <a:solidFill>
                  <a:srgbClr val="64748B"/>
                </a:solidFill>
              </a:rPr>
              <a:t>heure</a:t>
            </a:r>
            <a:r>
              <a:rPr lang="en-US" sz="1050">
                <a:solidFill>
                  <a:srgbClr val="64748B"/>
                </a:solidFill>
              </a:rPr>
              <a:t> et </a:t>
            </a:r>
            <a:r>
              <a:rPr lang="en-US" sz="1050" err="1">
                <a:solidFill>
                  <a:srgbClr val="64748B"/>
                </a:solidFill>
              </a:rPr>
              <a:t>quantité</a:t>
            </a:r>
            <a:r>
              <a:rPr lang="en-US" sz="1050">
                <a:solidFill>
                  <a:srgbClr val="64748B"/>
                </a:solidFill>
              </a:rPr>
              <a:t>. 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Mise à jour </a:t>
            </a:r>
            <a:r>
              <a:rPr lang="en-US" sz="1050" err="1">
                <a:solidFill>
                  <a:srgbClr val="64748B"/>
                </a:solidFill>
              </a:rPr>
              <a:t>automatique</a:t>
            </a:r>
            <a:r>
              <a:rPr lang="en-US" sz="1050">
                <a:solidFill>
                  <a:srgbClr val="64748B"/>
                </a:solidFill>
              </a:rPr>
              <a:t> via trigger SQL.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57200" y="3319272"/>
            <a:ext cx="658368" cy="6583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064" y="3374136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Multi-enseignes</a:t>
            </a:r>
            <a:endParaRPr lang="en-US" sz="1350"/>
          </a:p>
        </p:txBody>
      </p:sp>
      <p:sp>
        <p:nvSpPr>
          <p:cNvPr id="19" name="Text 14"/>
          <p:cNvSpPr/>
          <p:nvPr/>
        </p:nvSpPr>
        <p:spPr>
          <a:xfrm>
            <a:off x="1256619" y="3223260"/>
            <a:ext cx="30175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Rôles</a:t>
            </a:r>
            <a:r>
              <a:rPr lang="en-US" sz="1050">
                <a:solidFill>
                  <a:srgbClr val="64748B"/>
                </a:solidFill>
              </a:rPr>
              <a:t> Admin et </a:t>
            </a:r>
            <a:r>
              <a:rPr lang="en-US" sz="1050" err="1">
                <a:solidFill>
                  <a:srgbClr val="64748B"/>
                </a:solidFill>
              </a:rPr>
              <a:t>Employé</a:t>
            </a:r>
            <a:r>
              <a:rPr lang="en-US" sz="1050">
                <a:solidFill>
                  <a:srgbClr val="64748B"/>
                </a:solidFill>
              </a:rPr>
              <a:t>. 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Chaque enseigne totalement cloisonnée  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Données 100% </a:t>
            </a:r>
            <a:r>
              <a:rPr lang="en-US" sz="1050" err="1">
                <a:solidFill>
                  <a:srgbClr val="64748B"/>
                </a:solidFill>
              </a:rPr>
              <a:t>isolées</a:t>
            </a:r>
            <a:r>
              <a:rPr lang="en-US" sz="1050">
                <a:solidFill>
                  <a:srgbClr val="64748B"/>
                </a:solidFill>
              </a:rPr>
              <a:t>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937760" y="331927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4992624" y="3374136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42432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Dashboard temps </a:t>
            </a:r>
            <a:r>
              <a:rPr lang="en-US" sz="1350" b="1" err="1">
                <a:solidFill>
                  <a:srgbClr val="334155"/>
                </a:solidFill>
              </a:rPr>
              <a:t>réel</a:t>
            </a:r>
            <a:endParaRPr lang="en-US" sz="1350" err="1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742432" y="3228823"/>
            <a:ext cx="30175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u="sng">
                <a:solidFill>
                  <a:srgbClr val="64748B"/>
                </a:solidFill>
              </a:rPr>
              <a:t>KPIs </a:t>
            </a:r>
            <a:r>
              <a:rPr lang="en-US" sz="1050" u="sng" err="1">
                <a:solidFill>
                  <a:srgbClr val="64748B"/>
                </a:solidFill>
              </a:rPr>
              <a:t>en</a:t>
            </a:r>
            <a:r>
              <a:rPr lang="en-US" sz="1050" u="sng">
                <a:solidFill>
                  <a:srgbClr val="64748B"/>
                </a:solidFill>
              </a:rPr>
              <a:t> un coup </a:t>
            </a:r>
            <a:r>
              <a:rPr lang="en-US" sz="1050" u="sng" err="1">
                <a:solidFill>
                  <a:srgbClr val="64748B"/>
                </a:solidFill>
              </a:rPr>
              <a:t>d'œil</a:t>
            </a:r>
            <a:r>
              <a:rPr lang="en-US" sz="1050" u="sng">
                <a:solidFill>
                  <a:srgbClr val="64748B"/>
                </a:solidFill>
              </a:rPr>
              <a:t> : </a:t>
            </a:r>
            <a:endParaRPr lang="en-US" sz="1050" u="sng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Stock global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Valeur </a:t>
            </a:r>
            <a:r>
              <a:rPr lang="en-US" sz="1050" err="1">
                <a:solidFill>
                  <a:srgbClr val="64748B"/>
                </a:solidFill>
              </a:rPr>
              <a:t>totale</a:t>
            </a:r>
            <a:endParaRPr lang="en-US" sz="1050" err="1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Alertes</a:t>
            </a:r>
            <a:r>
              <a:rPr lang="en-US" sz="1050">
                <a:solidFill>
                  <a:srgbClr val="64748B"/>
                </a:solidFill>
              </a:rPr>
              <a:t> de rupture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Activité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récente</a:t>
            </a:r>
            <a:r>
              <a:rPr lang="en-US" sz="1050">
                <a:solidFill>
                  <a:srgbClr val="64748B"/>
                </a:solidFill>
              </a:rPr>
              <a:t>.</a:t>
            </a:r>
            <a:endParaRPr lang="en-US" sz="1050"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47D748-43DF-5AB2-7EB7-CA68F8DAD97C}"/>
              </a:ext>
            </a:extLst>
          </p:cNvPr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</a:rPr>
              <a:t>FONCTIONNEMENT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PAGES DU SITE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4 - Architecture &amp; </a:t>
            </a:r>
            <a:r>
              <a:rPr lang="en-US" sz="2600" b="1" dirty="0" err="1">
                <a:solidFill>
                  <a:srgbClr val="FFFFFF"/>
                </a:solidFill>
              </a:rPr>
              <a:t>Organisation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93392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PHP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en-US" sz="900" err="1">
                <a:solidFill>
                  <a:srgbClr val="334155"/>
                </a:solidFill>
              </a:rPr>
              <a:t>index.php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inscription.php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connexion.php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569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dashboard.php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produits.php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365760" y="331927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3192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categories.php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369417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mouvements.php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40690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admin.php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242316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423160" y="960120"/>
            <a:ext cx="199339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42316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HTML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251460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032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 err="1">
                <a:effectLst/>
                <a:latin typeface="Helvetica" pitchFamily="2" charset="0"/>
              </a:rPr>
              <a:t>categorie-add.html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1460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56032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 err="1">
                <a:effectLst/>
                <a:latin typeface="Helvetica" pitchFamily="2" charset="0"/>
              </a:rPr>
              <a:t>categorie-edit.html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14600" y="219456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560320" y="21945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>
                <a:effectLst/>
                <a:latin typeface="Helvetica" pitchFamily="2" charset="0"/>
              </a:rPr>
              <a:t>mouvement-</a:t>
            </a:r>
            <a:r>
              <a:rPr lang="fr-FR" sz="900" err="1">
                <a:effectLst/>
                <a:latin typeface="Helvetica" pitchFamily="2" charset="0"/>
              </a:rPr>
              <a:t>add.ht</a:t>
            </a:r>
            <a:r>
              <a:rPr lang="fr-FR" sz="900" err="1">
                <a:latin typeface="Helvetica" pitchFamily="2" charset="0"/>
              </a:rPr>
              <a:t>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572000" y="960120"/>
            <a:ext cx="199339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57200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CSS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466344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0916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css/style.css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672084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720840" y="960120"/>
            <a:ext cx="1993392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72084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JS</a:t>
            </a:r>
            <a:endParaRPr lang="en-US" sz="1300"/>
          </a:p>
        </p:txBody>
      </p:sp>
      <p:sp>
        <p:nvSpPr>
          <p:cNvPr id="41" name="Shape 39"/>
          <p:cNvSpPr/>
          <p:nvPr/>
        </p:nvSpPr>
        <p:spPr>
          <a:xfrm>
            <a:off x="681228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85800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js/script.js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681228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85800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js/off-photos.js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B82F6"/>
                </a:solidFill>
              </a:rPr>
              <a:t>assets/img/  →  Images landing page &amp; photos produits uploadées</a:t>
            </a:r>
            <a:endParaRPr lang="en-US" sz="100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B305B76A-9D6C-ACA5-A608-37D8ACE1D373}"/>
              </a:ext>
            </a:extLst>
          </p:cNvPr>
          <p:cNvSpPr/>
          <p:nvPr/>
        </p:nvSpPr>
        <p:spPr>
          <a:xfrm>
            <a:off x="2514600" y="2569464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sz="900">
                <a:solidFill>
                  <a:srgbClr val="334155"/>
                </a:solidFill>
              </a:rPr>
              <a:t> › </a:t>
            </a:r>
            <a:r>
              <a:rPr lang="fr-FR" sz="900">
                <a:latin typeface="Helvetica" pitchFamily="2" charset="0"/>
              </a:rPr>
              <a:t>produit-</a:t>
            </a:r>
            <a:r>
              <a:rPr lang="fr-FR" sz="900" err="1">
                <a:latin typeface="Helvetica" pitchFamily="2" charset="0"/>
              </a:rPr>
              <a:t>edit.html</a:t>
            </a:r>
            <a:endParaRPr lang="fr-FR" sz="900">
              <a:latin typeface="Helvetica" pitchFamily="2" charset="0"/>
            </a:endParaRPr>
          </a:p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BASE DE DONNÉES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5 - stocksmart_v2 — </a:t>
            </a:r>
            <a:r>
              <a:rPr lang="en-US" sz="2600" b="1" dirty="0" err="1">
                <a:solidFill>
                  <a:srgbClr val="FFFFFF"/>
                </a:solidFill>
              </a:rPr>
              <a:t>Schéma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relationnel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enseignes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25603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182697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18288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fr-FR">
                <a:ea typeface="Calibri"/>
                <a:cs typeface="Calibri"/>
              </a:rPr>
              <a:t>   </a:t>
            </a:r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603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182697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256032" y="1737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code_invitation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1826971" y="1737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182880" y="1997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56032" y="1997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actif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1826971" y="1997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BOOLEAN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3246120" y="868680"/>
            <a:ext cx="2651760" cy="1650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utilisateurs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31927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489021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23" name="Shape 21"/>
          <p:cNvSpPr/>
          <p:nvPr/>
        </p:nvSpPr>
        <p:spPr>
          <a:xfrm>
            <a:off x="324612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31927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 / prenom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489021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3319272" y="1737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email / mot_de_passe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4890211" y="1737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3246120" y="1997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319272" y="1997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role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890211" y="1997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ENUM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3319272" y="225856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enseigne_id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4890211" y="225856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33" name="Shape 31"/>
          <p:cNvSpPr/>
          <p:nvPr/>
        </p:nvSpPr>
        <p:spPr>
          <a:xfrm>
            <a:off x="6309360" y="8686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309360" y="868680"/>
            <a:ext cx="2651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30936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categories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38251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795345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630936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38251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795345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41" name="Shape 39"/>
          <p:cNvSpPr/>
          <p:nvPr/>
        </p:nvSpPr>
        <p:spPr>
          <a:xfrm>
            <a:off x="182880" y="2633472"/>
            <a:ext cx="265176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182880" y="2633472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82880" y="2633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produits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256032" y="298094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1826971" y="298094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46" name="Shape 44"/>
          <p:cNvSpPr/>
          <p:nvPr/>
        </p:nvSpPr>
        <p:spPr>
          <a:xfrm>
            <a:off x="182880" y="3241548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56032" y="324154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reference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1826971" y="324154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49" name="Text 47"/>
          <p:cNvSpPr/>
          <p:nvPr/>
        </p:nvSpPr>
        <p:spPr>
          <a:xfrm>
            <a:off x="256032" y="3502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 / marque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1826971" y="3502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51" name="Shape 49"/>
          <p:cNvSpPr/>
          <p:nvPr/>
        </p:nvSpPr>
        <p:spPr>
          <a:xfrm>
            <a:off x="182880" y="3762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56032" y="3762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quantite / prix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1826971" y="3762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/ DECIMAL</a:t>
            </a:r>
            <a:endParaRPr lang="en-US" sz="750"/>
          </a:p>
        </p:txBody>
      </p:sp>
      <p:sp>
        <p:nvSpPr>
          <p:cNvPr id="54" name="Text 52"/>
          <p:cNvSpPr/>
          <p:nvPr/>
        </p:nvSpPr>
        <p:spPr>
          <a:xfrm>
            <a:off x="256032" y="4023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seuil_alerte</a:t>
            </a:r>
            <a:endParaRPr lang="en-US" sz="850"/>
          </a:p>
        </p:txBody>
      </p:sp>
      <p:sp>
        <p:nvSpPr>
          <p:cNvPr id="55" name="Text 53"/>
          <p:cNvSpPr/>
          <p:nvPr/>
        </p:nvSpPr>
        <p:spPr>
          <a:xfrm>
            <a:off x="1826971" y="4023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</a:t>
            </a:r>
            <a:endParaRPr lang="en-US" sz="750"/>
          </a:p>
        </p:txBody>
      </p:sp>
      <p:sp>
        <p:nvSpPr>
          <p:cNvPr id="56" name="Shape 54"/>
          <p:cNvSpPr/>
          <p:nvPr/>
        </p:nvSpPr>
        <p:spPr>
          <a:xfrm>
            <a:off x="182880" y="4283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56032" y="4283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categorie_id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1826971" y="4283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59" name="Shape 57"/>
          <p:cNvSpPr/>
          <p:nvPr/>
        </p:nvSpPr>
        <p:spPr>
          <a:xfrm>
            <a:off x="6309360" y="2633472"/>
            <a:ext cx="265176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6309360" y="2633472"/>
            <a:ext cx="26517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6309360" y="2633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mouvements</a:t>
            </a:r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6382512" y="298094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63" name="Text 61"/>
          <p:cNvSpPr/>
          <p:nvPr/>
        </p:nvSpPr>
        <p:spPr>
          <a:xfrm>
            <a:off x="7953451" y="298094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64" name="Shape 62"/>
          <p:cNvSpPr/>
          <p:nvPr/>
        </p:nvSpPr>
        <p:spPr>
          <a:xfrm>
            <a:off x="6309360" y="3241548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6382512" y="324154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type_mouvement</a:t>
            </a:r>
            <a:endParaRPr lang="en-US" sz="850"/>
          </a:p>
        </p:txBody>
      </p:sp>
      <p:sp>
        <p:nvSpPr>
          <p:cNvPr id="66" name="Text 64"/>
          <p:cNvSpPr/>
          <p:nvPr/>
        </p:nvSpPr>
        <p:spPr>
          <a:xfrm>
            <a:off x="7953451" y="324154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ENUM</a:t>
            </a:r>
            <a:endParaRPr lang="en-US" sz="750"/>
          </a:p>
        </p:txBody>
      </p:sp>
      <p:sp>
        <p:nvSpPr>
          <p:cNvPr id="67" name="Text 65"/>
          <p:cNvSpPr/>
          <p:nvPr/>
        </p:nvSpPr>
        <p:spPr>
          <a:xfrm>
            <a:off x="6382512" y="3502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quantite</a:t>
            </a:r>
            <a:endParaRPr lang="en-US" sz="850"/>
          </a:p>
        </p:txBody>
      </p:sp>
      <p:sp>
        <p:nvSpPr>
          <p:cNvPr id="68" name="Text 66"/>
          <p:cNvSpPr/>
          <p:nvPr/>
        </p:nvSpPr>
        <p:spPr>
          <a:xfrm>
            <a:off x="7953451" y="3502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</a:t>
            </a:r>
            <a:endParaRPr lang="en-US" sz="750"/>
          </a:p>
        </p:txBody>
      </p:sp>
      <p:sp>
        <p:nvSpPr>
          <p:cNvPr id="69" name="Shape 67"/>
          <p:cNvSpPr/>
          <p:nvPr/>
        </p:nvSpPr>
        <p:spPr>
          <a:xfrm>
            <a:off x="6309360" y="3762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6382512" y="3762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date_mouvement</a:t>
            </a:r>
            <a:endParaRPr lang="en-US" sz="850"/>
          </a:p>
        </p:txBody>
      </p:sp>
      <p:sp>
        <p:nvSpPr>
          <p:cNvPr id="71" name="Text 69"/>
          <p:cNvSpPr/>
          <p:nvPr/>
        </p:nvSpPr>
        <p:spPr>
          <a:xfrm>
            <a:off x="7953451" y="3762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DATETIME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6382512" y="4023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produit_id</a:t>
            </a:r>
            <a:endParaRPr lang="en-US" sz="850"/>
          </a:p>
        </p:txBody>
      </p:sp>
      <p:sp>
        <p:nvSpPr>
          <p:cNvPr id="73" name="Text 71"/>
          <p:cNvSpPr/>
          <p:nvPr/>
        </p:nvSpPr>
        <p:spPr>
          <a:xfrm>
            <a:off x="7953451" y="4023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74" name="Shape 72"/>
          <p:cNvSpPr/>
          <p:nvPr/>
        </p:nvSpPr>
        <p:spPr>
          <a:xfrm>
            <a:off x="6309360" y="4283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6382512" y="4283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utilisateur_id</a:t>
            </a:r>
            <a:endParaRPr lang="en-US" sz="850"/>
          </a:p>
        </p:txBody>
      </p:sp>
      <p:sp>
        <p:nvSpPr>
          <p:cNvPr id="76" name="Text 74"/>
          <p:cNvSpPr/>
          <p:nvPr/>
        </p:nvSpPr>
        <p:spPr>
          <a:xfrm>
            <a:off x="7953451" y="4283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77" name="Shape 75"/>
          <p:cNvSpPr/>
          <p:nvPr/>
        </p:nvSpPr>
        <p:spPr>
          <a:xfrm>
            <a:off x="3246120" y="2633472"/>
            <a:ext cx="2651760" cy="1911096"/>
          </a:xfrm>
          <a:prstGeom prst="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246120" y="2633472"/>
            <a:ext cx="265176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3246120" y="26334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⚡ TRIGGER SQL</a:t>
            </a:r>
            <a:endParaRPr lang="en-US" sz="1000"/>
          </a:p>
        </p:txBody>
      </p:sp>
      <p:sp>
        <p:nvSpPr>
          <p:cNvPr id="80" name="Text 78"/>
          <p:cNvSpPr/>
          <p:nvPr/>
        </p:nvSpPr>
        <p:spPr>
          <a:xfrm>
            <a:off x="3355848" y="301752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334155"/>
                </a:solidFill>
              </a:rPr>
              <a:t>AFTER INSERT ON mouvements
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→ UPDATE produits SET quantite
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→ GREATEST(0, quantite - NEW.quantite)</a:t>
            </a:r>
            <a:endParaRPr lang="en-US" sz="950"/>
          </a:p>
        </p:txBody>
      </p:sp>
      <p:sp>
        <p:nvSpPr>
          <p:cNvPr id="81" name="Shape 79"/>
          <p:cNvSpPr/>
          <p:nvPr/>
        </p:nvSpPr>
        <p:spPr>
          <a:xfrm>
            <a:off x="2834640" y="1600200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2871216" y="13990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1</a:t>
            </a:r>
            <a:endParaRPr lang="en-US" sz="800"/>
          </a:p>
        </p:txBody>
      </p:sp>
      <p:sp>
        <p:nvSpPr>
          <p:cNvPr id="83" name="Text 81"/>
          <p:cNvSpPr/>
          <p:nvPr/>
        </p:nvSpPr>
        <p:spPr>
          <a:xfrm>
            <a:off x="3044952" y="13990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N</a:t>
            </a:r>
            <a:endParaRPr lang="en-US" sz="800"/>
          </a:p>
        </p:txBody>
      </p:sp>
      <p:sp>
        <p:nvSpPr>
          <p:cNvPr id="84" name="Shape 82"/>
          <p:cNvSpPr/>
          <p:nvPr/>
        </p:nvSpPr>
        <p:spPr>
          <a:xfrm>
            <a:off x="7635240" y="1563624"/>
            <a:ext cx="0" cy="1069848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7680960" y="15819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1</a:t>
            </a:r>
            <a:endParaRPr lang="en-US" sz="800"/>
          </a:p>
        </p:txBody>
      </p:sp>
      <p:sp>
        <p:nvSpPr>
          <p:cNvPr id="86" name="Text 84"/>
          <p:cNvSpPr/>
          <p:nvPr/>
        </p:nvSpPr>
        <p:spPr>
          <a:xfrm>
            <a:off x="7680960" y="241401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N</a:t>
            </a:r>
            <a:endParaRPr lang="en-US" sz="800"/>
          </a:p>
        </p:txBody>
      </p:sp>
      <p:sp>
        <p:nvSpPr>
          <p:cNvPr id="87" name="Shape 85"/>
          <p:cNvSpPr/>
          <p:nvPr/>
        </p:nvSpPr>
        <p:spPr>
          <a:xfrm>
            <a:off x="2834640" y="3639312"/>
            <a:ext cx="34747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2871216" y="34381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1</a:t>
            </a:r>
            <a:endParaRPr lang="en-US" sz="800"/>
          </a:p>
        </p:txBody>
      </p:sp>
      <p:sp>
        <p:nvSpPr>
          <p:cNvPr id="89" name="Text 87"/>
          <p:cNvSpPr/>
          <p:nvPr/>
        </p:nvSpPr>
        <p:spPr>
          <a:xfrm>
            <a:off x="6108192" y="34381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N</a:t>
            </a:r>
            <a:endParaRPr lang="en-US" sz="800"/>
          </a:p>
        </p:txBody>
      </p:sp>
      <p:sp>
        <p:nvSpPr>
          <p:cNvPr id="90" name="Shape 88"/>
          <p:cNvSpPr/>
          <p:nvPr/>
        </p:nvSpPr>
        <p:spPr>
          <a:xfrm>
            <a:off x="5897880" y="2240280"/>
            <a:ext cx="411480" cy="1856232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2468880" y="4892040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2468880" y="489204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🔑 Clé primaire (PK)   →  Clé étrangère (FK)   ╌  Relation 1→N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ASPECTS TECHNIQUES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6 - Ce qui rend le </a:t>
            </a:r>
            <a:r>
              <a:rPr lang="en-US" sz="2600" b="1" dirty="0" err="1">
                <a:solidFill>
                  <a:srgbClr val="FFFFFF"/>
                </a:solidFill>
              </a:rPr>
              <a:t>projet</a:t>
            </a:r>
            <a:r>
              <a:rPr lang="en-US" sz="2600" b="1" dirty="0">
                <a:solidFill>
                  <a:srgbClr val="FFFFFF"/>
                </a:solidFill>
              </a:rPr>
              <a:t> unique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064" y="1453896"/>
            <a:ext cx="548640" cy="5486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8" name="Text 5"/>
          <p:cNvSpPr/>
          <p:nvPr/>
        </p:nvSpPr>
        <p:spPr>
          <a:xfrm>
            <a:off x="126187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API Open Food Facts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1243584" y="1298448"/>
            <a:ext cx="30175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Saisir</a:t>
            </a:r>
            <a:r>
              <a:rPr lang="en-US" sz="1050">
                <a:solidFill>
                  <a:srgbClr val="64748B"/>
                </a:solidFill>
              </a:rPr>
              <a:t> nom + marque → photo </a:t>
            </a:r>
            <a:r>
              <a:rPr lang="en-US" sz="1050" err="1">
                <a:solidFill>
                  <a:srgbClr val="64748B"/>
                </a:solidFill>
              </a:rPr>
              <a:t>chargée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automatiquement</a:t>
            </a:r>
            <a:r>
              <a:rPr lang="en-US" sz="1050">
                <a:solidFill>
                  <a:srgbClr val="64748B"/>
                </a:solidFill>
              </a:rPr>
              <a:t>. 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Cache </a:t>
            </a:r>
            <a:r>
              <a:rPr lang="en-US" sz="1050" err="1">
                <a:solidFill>
                  <a:srgbClr val="64748B"/>
                </a:solidFill>
              </a:rPr>
              <a:t>navigateur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intégré</a:t>
            </a:r>
            <a:r>
              <a:rPr lang="en-US" sz="1050">
                <a:solidFill>
                  <a:srgbClr val="64748B"/>
                </a:solidFill>
              </a:rPr>
              <a:t> pour les performances.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937760" y="139903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2624" y="1453896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4243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Trigger SQL</a:t>
            </a:r>
            <a:endParaRPr lang="en-US" sz="1350"/>
          </a:p>
        </p:txBody>
      </p:sp>
      <p:sp>
        <p:nvSpPr>
          <p:cNvPr id="14" name="Text 10"/>
          <p:cNvSpPr/>
          <p:nvPr/>
        </p:nvSpPr>
        <p:spPr>
          <a:xfrm>
            <a:off x="5753911" y="1289304"/>
            <a:ext cx="30175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La BDD se met à jour </a:t>
            </a:r>
            <a:r>
              <a:rPr lang="en-US" sz="1050" err="1">
                <a:solidFill>
                  <a:srgbClr val="64748B"/>
                </a:solidFill>
              </a:rPr>
              <a:t>seule</a:t>
            </a:r>
            <a:r>
              <a:rPr lang="en-US" sz="1050">
                <a:solidFill>
                  <a:srgbClr val="64748B"/>
                </a:solidFill>
              </a:rPr>
              <a:t>. 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Intégrité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garantie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même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en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cas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d'erreur</a:t>
            </a:r>
            <a:r>
              <a:rPr lang="en-US" sz="1050">
                <a:solidFill>
                  <a:srgbClr val="64748B"/>
                </a:solidFill>
              </a:rPr>
              <a:t> réseau </a:t>
            </a:r>
            <a:r>
              <a:rPr lang="en-US" sz="1050" err="1">
                <a:solidFill>
                  <a:srgbClr val="64748B"/>
                </a:solidFill>
              </a:rPr>
              <a:t>côté</a:t>
            </a:r>
            <a:r>
              <a:rPr lang="en-US" sz="1050">
                <a:solidFill>
                  <a:srgbClr val="64748B"/>
                </a:solidFill>
              </a:rPr>
              <a:t> PHP.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57200" y="3319272"/>
            <a:ext cx="658368" cy="6583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374136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Architecture multi-tenant</a:t>
            </a:r>
            <a:endParaRPr lang="en-US" sz="1350"/>
          </a:p>
        </p:txBody>
      </p:sp>
      <p:sp>
        <p:nvSpPr>
          <p:cNvPr id="19" name="Text 14"/>
          <p:cNvSpPr/>
          <p:nvPr/>
        </p:nvSpPr>
        <p:spPr>
          <a:xfrm>
            <a:off x="1243584" y="3216816"/>
            <a:ext cx="30175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Chaque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enseigne</a:t>
            </a:r>
            <a:r>
              <a:rPr lang="en-US" sz="1050">
                <a:solidFill>
                  <a:srgbClr val="64748B"/>
                </a:solidFill>
              </a:rPr>
              <a:t> a son </a:t>
            </a:r>
            <a:r>
              <a:rPr lang="en-US" sz="1050" err="1">
                <a:solidFill>
                  <a:srgbClr val="64748B"/>
                </a:solidFill>
              </a:rPr>
              <a:t>enseigne_id</a:t>
            </a:r>
            <a:r>
              <a:rPr lang="en-US" sz="1050">
                <a:solidFill>
                  <a:srgbClr val="64748B"/>
                </a:solidFill>
              </a:rPr>
              <a:t> unique.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Toutes</a:t>
            </a:r>
            <a:r>
              <a:rPr lang="en-US" sz="1050">
                <a:solidFill>
                  <a:srgbClr val="64748B"/>
                </a:solidFill>
              </a:rPr>
              <a:t> les </a:t>
            </a:r>
            <a:r>
              <a:rPr lang="en-US" sz="1050" err="1">
                <a:solidFill>
                  <a:srgbClr val="64748B"/>
                </a:solidFill>
              </a:rPr>
              <a:t>requêtes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sont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filtrées</a:t>
            </a:r>
            <a:r>
              <a:rPr lang="en-US" sz="1050">
                <a:solidFill>
                  <a:srgbClr val="64748B"/>
                </a:solidFill>
              </a:rPr>
              <a:t> pour </a:t>
            </a:r>
            <a:r>
              <a:rPr lang="en-US" sz="1050" err="1">
                <a:solidFill>
                  <a:srgbClr val="64748B"/>
                </a:solidFill>
              </a:rPr>
              <a:t>une</a:t>
            </a:r>
            <a:r>
              <a:rPr lang="en-US" sz="1050">
                <a:solidFill>
                  <a:srgbClr val="64748B"/>
                </a:solidFill>
              </a:rPr>
              <a:t> solation </a:t>
            </a:r>
            <a:r>
              <a:rPr lang="en-US" sz="1050" err="1">
                <a:solidFill>
                  <a:srgbClr val="64748B"/>
                </a:solidFill>
              </a:rPr>
              <a:t>totale</a:t>
            </a:r>
            <a:r>
              <a:rPr lang="en-US" sz="1050">
                <a:solidFill>
                  <a:srgbClr val="64748B"/>
                </a:solidFill>
              </a:rPr>
              <a:t>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937760" y="331927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3374136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4243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Sécurité centralisée</a:t>
            </a:r>
            <a:endParaRPr lang="en-US" sz="1350"/>
          </a:p>
        </p:txBody>
      </p:sp>
      <p:sp>
        <p:nvSpPr>
          <p:cNvPr id="24" name="Text 18"/>
          <p:cNvSpPr/>
          <p:nvPr/>
        </p:nvSpPr>
        <p:spPr>
          <a:xfrm>
            <a:off x="5674060" y="3218688"/>
            <a:ext cx="30175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config.php regroupe requireLogin(), isAdmin(), canEdit(). 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Une </a:t>
            </a:r>
            <a:r>
              <a:rPr lang="en-US" sz="1050" err="1">
                <a:solidFill>
                  <a:srgbClr val="64748B"/>
                </a:solidFill>
              </a:rPr>
              <a:t>règle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changée</a:t>
            </a:r>
            <a:r>
              <a:rPr lang="en-US" sz="1050">
                <a:solidFill>
                  <a:srgbClr val="64748B"/>
                </a:solidFill>
              </a:rPr>
              <a:t> = </a:t>
            </a:r>
            <a:r>
              <a:rPr lang="en-US" sz="1050" err="1">
                <a:solidFill>
                  <a:srgbClr val="64748B"/>
                </a:solidFill>
              </a:rPr>
              <a:t>appliquée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partout</a:t>
            </a:r>
            <a:r>
              <a:rPr lang="en-US" sz="1050">
                <a:solidFill>
                  <a:srgbClr val="64748B"/>
                </a:solidFill>
              </a:rPr>
              <a:t>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63549"/>
          </a:solidFill>
          <a:ln w="12700">
            <a:solidFill>
              <a:srgbClr val="2635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858768" y="274320"/>
            <a:ext cx="1426464" cy="14264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5072" y="420624"/>
            <a:ext cx="1133856" cy="1133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</a:rPr>
              <a:t>StockSmart </a:t>
            </a:r>
            <a:r>
              <a:rPr lang="en-US" sz="6000" b="1">
                <a:solidFill>
                  <a:srgbClr val="3B82F6"/>
                </a:solidFill>
              </a:rPr>
              <a:t>Pro</a:t>
            </a:r>
            <a:endParaRPr lang="en-US" sz="600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94A3B8"/>
                </a:solidFill>
              </a:rPr>
              <a:t>Une application web complète, sécurisée et originale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3200400" y="3410712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6576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6576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Photos automatiques (Open Food Facts)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329184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9184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Trigger SQL pour l'intégrité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621792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21792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Architecture multi-enseignes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4748B"/>
                </a:solidFill>
              </a:rPr>
              <a:t>Merci pour votre attention — Questions ?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676</Words>
  <Application>Microsoft Macintosh PowerPoint</Application>
  <PresentationFormat>Affichage à l'écran (16:9)</PresentationFormat>
  <Paragraphs>185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Helvetica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StockSmart Pro</dc:title>
  <dc:subject>PptxGenJS Presentation</dc:subject>
  <dc:creator>PptxGenJS</dc:creator>
  <cp:lastModifiedBy>Mahjoub Omaima</cp:lastModifiedBy>
  <cp:revision>3</cp:revision>
  <dcterms:created xsi:type="dcterms:W3CDTF">2026-04-12T09:27:42Z</dcterms:created>
  <dcterms:modified xsi:type="dcterms:W3CDTF">2026-04-29T20:33:10Z</dcterms:modified>
</cp:coreProperties>
</file>